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4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5.xml" ContentType="application/vnd.openxmlformats-officedocument.theme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757" r:id="rId2"/>
    <p:sldMasterId id="2147483775" r:id="rId3"/>
    <p:sldMasterId id="2147483811" r:id="rId4"/>
    <p:sldMasterId id="2147483829" r:id="rId5"/>
    <p:sldMasterId id="2147483847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tableStyles" Target="tableStyle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08B9EBBA-996F-894A-B54A-D6246ED52CEA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000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8631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7989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0165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241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1695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1362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759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814541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458392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016661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752332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122994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936841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644786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07750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2511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08B9EBBA-996F-894A-B54A-D6246ED52CEA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5791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5658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7536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4916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9763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3823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9805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9702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019394"/>
      </p:ext>
    </p:extLst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923924"/>
      </p:ext>
    </p:extLst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401793"/>
      </p:ext>
    </p:extLst>
  </p:cSld>
  <p:clrMapOvr>
    <a:masterClrMapping/>
  </p:clrMapOvr>
  <p:hf sldNum="0"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766105"/>
      </p:ext>
    </p:extLst>
  </p:cSld>
  <p:clrMapOvr>
    <a:masterClrMapping/>
  </p:clrMapOvr>
  <p:hf sldNum="0"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148978"/>
      </p:ext>
    </p:extLst>
  </p:cSld>
  <p:clrMapOvr>
    <a:masterClrMapping/>
  </p:clrMapOvr>
  <p:hf sldNum="0"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306149"/>
      </p:ext>
    </p:extLst>
  </p:cSld>
  <p:clrMapOvr>
    <a:masterClrMapping/>
  </p:clrMapOvr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453757"/>
      </p:ext>
    </p:extLst>
  </p:cSld>
  <p:clrMapOvr>
    <a:masterClrMapping/>
  </p:clrMapOvr>
  <p:hf sldNum="0"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05987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52276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08B9EBBA-996F-894A-B54A-D6246ED52CEA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3652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81538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18027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91280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88954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02971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07190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02491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411104"/>
      </p:ext>
    </p:extLst>
  </p:cSld>
  <p:clrMapOvr>
    <a:masterClrMapping/>
  </p:clrMapOvr>
  <p:hf sldNum="0"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268647"/>
      </p:ext>
    </p:extLst>
  </p:cSld>
  <p:clrMapOvr>
    <a:masterClrMapping/>
  </p:clrMapOvr>
  <p:hf sldNum="0"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193791"/>
      </p:ext>
    </p:extLst>
  </p:cSld>
  <p:clrMapOvr>
    <a:masterClrMapping/>
  </p:clrMapOvr>
  <p:hf sldNum="0"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862451"/>
      </p:ext>
    </p:extLst>
  </p:cSld>
  <p:clrMapOvr>
    <a:masterClrMapping/>
  </p:clrMapOvr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77631"/>
      </p:ext>
    </p:extLst>
  </p:cSld>
  <p:clrMapOvr>
    <a:masterClrMapping/>
  </p:clrMapOvr>
  <p:hf sldNum="0"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819837"/>
      </p:ext>
    </p:extLst>
  </p:cSld>
  <p:clrMapOvr>
    <a:masterClrMapping/>
  </p:clrMapOvr>
  <p:hf sldNum="0"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285604"/>
      </p:ext>
    </p:extLst>
  </p:cSld>
  <p:clrMapOvr>
    <a:masterClrMapping/>
  </p:clrMapOvr>
  <p:hf sldNum="0"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92234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46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08B9EBBA-996F-894A-B54A-D6246ED52CEA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9989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26217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1347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39236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3185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91354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7225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72799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690510"/>
      </p:ext>
    </p:extLst>
  </p:cSld>
  <p:clrMapOvr>
    <a:masterClrMapping/>
  </p:clrMapOvr>
  <p:hf sldNum="0" hdr="0" ftr="0" dt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71929"/>
      </p:ext>
    </p:extLst>
  </p:cSld>
  <p:clrMapOvr>
    <a:masterClrMapping/>
  </p:clrMapOvr>
  <p:hf sldNum="0" hdr="0" ftr="0" dt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839439"/>
      </p:ext>
    </p:extLst>
  </p:cSld>
  <p:clrMapOvr>
    <a:masterClrMapping/>
  </p:clrMapOvr>
  <p:hf sldNum="0" hdr="0" ftr="0" dt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9757"/>
      </p:ext>
    </p:extLst>
  </p:cSld>
  <p:clrMapOvr>
    <a:masterClrMapping/>
  </p:clrMapOvr>
  <p:hf sldNum="0" hdr="0" ftr="0" dt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17568"/>
      </p:ext>
    </p:extLst>
  </p:cSld>
  <p:clrMapOvr>
    <a:masterClrMapping/>
  </p:clrMapOvr>
  <p:hf sldNum="0" hdr="0" ft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219839"/>
      </p:ext>
    </p:extLst>
  </p:cSld>
  <p:clrMapOvr>
    <a:masterClrMapping/>
  </p:clrMapOvr>
  <p:hf sldNum="0" hdr="0" ftr="0" dt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353243"/>
      </p:ext>
    </p:extLst>
  </p:cSld>
  <p:clrMapOvr>
    <a:masterClrMapping/>
  </p:clrMapOvr>
  <p:hf sldNum="0" hdr="0" ftr="0" dt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74413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31590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0">
                      <a:schemeClr val="tx1"/>
                    </a:gs>
                    <a:gs pos="68000">
                      <a:srgbClr val="F1F1F1"/>
                    </a:gs>
                    <a:gs pos="100000">
                      <a:schemeClr val="bg1">
                        <a:lumMod val="11000"/>
                        <a:lumOff val="89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defRPr>
            </a:lvl1pPr>
          </a:lstStyle>
          <a:p>
            <a:pPr lvl="0" algn="r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</a:lstStyle>
          <a:p>
            <a:pPr marL="0" lvl="0" indent="0" algn="r">
              <a:buNone/>
            </a:pPr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87748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56810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32000"/>
                        <a:lumOff val="68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52224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37714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303056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78750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22571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18239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28621"/>
      </p:ext>
    </p:extLst>
  </p:cSld>
  <p:clrMapOvr>
    <a:masterClrMapping/>
  </p:clrMapOvr>
  <p:hf sldNum="0" hdr="0" ftr="0" dt="0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948575"/>
      </p:ext>
    </p:extLst>
  </p:cSld>
  <p:clrMapOvr>
    <a:masterClrMapping/>
  </p:clrMapOvr>
  <p:hf sldNum="0" hdr="0" ftr="0" dt="0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831262"/>
      </p:ext>
    </p:extLst>
  </p:cSld>
  <p:clrMapOvr>
    <a:masterClrMapping/>
  </p:clrMapOvr>
  <p:hf sldNum="0" hdr="0" ftr="0" dt="0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95741651"/>
      </p:ext>
    </p:extLst>
  </p:cSld>
  <p:clrMapOvr>
    <a:masterClrMapping/>
  </p:clrMapOvr>
  <p:hf sldNum="0" hdr="0" ftr="0" dt="0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799034"/>
      </p:ext>
    </p:extLst>
  </p:cSld>
  <p:clrMapOvr>
    <a:masterClrMapping/>
  </p:clrMapOvr>
  <p:hf sldNum="0" hdr="0" ftr="0" dt="0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413605"/>
      </p:ext>
    </p:extLst>
  </p:cSld>
  <p:clrMapOvr>
    <a:masterClrMapping/>
  </p:clrMapOvr>
  <p:hf sldNum="0" hdr="0" ftr="0" dt="0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351104"/>
      </p:ext>
    </p:extLst>
  </p:cSld>
  <p:clrMapOvr>
    <a:masterClrMapping/>
  </p:clrMapOvr>
  <p:hf sldNum="0" hdr="0" ftr="0" dt="0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77717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588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5.xml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8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82.xml"/><Relationship Id="rId2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81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5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0.xml"/><Relationship Id="rId13" Type="http://schemas.openxmlformats.org/officeDocument/2006/relationships/slideLayout" Target="../slideLayouts/slideLayout95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9.xml"/><Relationship Id="rId12" Type="http://schemas.openxmlformats.org/officeDocument/2006/relationships/slideLayout" Target="../slideLayouts/slideLayout94.xml"/><Relationship Id="rId17" Type="http://schemas.openxmlformats.org/officeDocument/2006/relationships/slideLayout" Target="../slideLayouts/slideLayout99.xml"/><Relationship Id="rId2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8.xml"/><Relationship Id="rId11" Type="http://schemas.openxmlformats.org/officeDocument/2006/relationships/slideLayout" Target="../slideLayouts/slideLayout93.xml"/><Relationship Id="rId5" Type="http://schemas.openxmlformats.org/officeDocument/2006/relationships/slideLayout" Target="../slideLayouts/slideLayout87.xml"/><Relationship Id="rId15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2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86.xml"/><Relationship Id="rId9" Type="http://schemas.openxmlformats.org/officeDocument/2006/relationships/slideLayout" Target="../slideLayouts/slideLayout91.xml"/><Relationship Id="rId14" Type="http://schemas.openxmlformats.org/officeDocument/2006/relationships/slideLayout" Target="../slideLayouts/slideLayout9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3136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288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787" r:id="rId12"/>
    <p:sldLayoutId id="2147483788" r:id="rId13"/>
    <p:sldLayoutId id="2147483789" r:id="rId14"/>
    <p:sldLayoutId id="2147483790" r:id="rId15"/>
    <p:sldLayoutId id="2147483791" r:id="rId16"/>
    <p:sldLayoutId id="2147483792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3944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6194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  <p:sldLayoutId id="2147483842" r:id="rId13"/>
    <p:sldLayoutId id="2147483843" r:id="rId14"/>
    <p:sldLayoutId id="2147483844" r:id="rId15"/>
    <p:sldLayoutId id="2147483845" r:id="rId16"/>
    <p:sldLayoutId id="2147483846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09B482E8-6E0E-1B4F-B1FD-C69DB9E858D9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7933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  <p:sldLayoutId id="2147483859" r:id="rId12"/>
    <p:sldLayoutId id="2147483860" r:id="rId13"/>
    <p:sldLayoutId id="2147483861" r:id="rId14"/>
    <p:sldLayoutId id="2147483862" r:id="rId15"/>
    <p:sldLayoutId id="2147483863" r:id="rId16"/>
    <p:sldLayoutId id="2147483864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4A414-F144-48F5-AD28-D09140E5D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49148"/>
            <a:ext cx="12192000" cy="1429520"/>
          </a:xfrm>
        </p:spPr>
        <p:txBody>
          <a:bodyPr/>
          <a:lstStyle/>
          <a:p>
            <a:pPr algn="ctr"/>
            <a:r>
              <a:rPr lang="es-MX" sz="7200" dirty="0"/>
              <a:t>Ciberseguridad en Python</a:t>
            </a:r>
          </a:p>
        </p:txBody>
      </p:sp>
    </p:spTree>
    <p:extLst>
      <p:ext uri="{BB962C8B-B14F-4D97-AF65-F5344CB8AC3E}">
        <p14:creationId xmlns:p14="http://schemas.microsoft.com/office/powerpoint/2010/main" val="3693657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1C8D67-34A2-4A8E-93B7-467ABFD0C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Gestión de dependencias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FFF5F5-01A3-48E4-BD03-4D4DC5C68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MX" dirty="0"/>
              <a:t>Consiste en controlar las librerías y paquetes que usa un programa en Python para evitar vulnerabilidades. Es importante mantenerlas actualizadas y usar versiones seguras.</a:t>
            </a:r>
          </a:p>
        </p:txBody>
      </p:sp>
    </p:spTree>
    <p:extLst>
      <p:ext uri="{BB962C8B-B14F-4D97-AF65-F5344CB8AC3E}">
        <p14:creationId xmlns:p14="http://schemas.microsoft.com/office/powerpoint/2010/main" val="3673040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77B61C-5E00-4CB7-80AA-B2DC38B93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Manejo de secretos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56392B-DE9C-47D2-9DC7-5E74BE369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MX" dirty="0"/>
              <a:t>Es la protección de información sensible como contraseñas, tokens y claves API. No deben guardarse directamente en el código; se recomienda usar variables de entorno o gestores de secretos.</a:t>
            </a:r>
          </a:p>
        </p:txBody>
      </p:sp>
    </p:spTree>
    <p:extLst>
      <p:ext uri="{BB962C8B-B14F-4D97-AF65-F5344CB8AC3E}">
        <p14:creationId xmlns:p14="http://schemas.microsoft.com/office/powerpoint/2010/main" val="3650058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7AD00-A5F2-4426-BBA9-D5A1811F5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Validación de entradas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A441D2-F550-444F-A0EB-9B7649495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MX" dirty="0"/>
              <a:t>Consiste en revisar que los datos que ingresa el usuario sean correctos y seguros para evitar ataques o errores en el sistema.</a:t>
            </a:r>
          </a:p>
        </p:txBody>
      </p:sp>
    </p:spTree>
    <p:extLst>
      <p:ext uri="{BB962C8B-B14F-4D97-AF65-F5344CB8AC3E}">
        <p14:creationId xmlns:p14="http://schemas.microsoft.com/office/powerpoint/2010/main" val="2087223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D0725D-CE87-4C12-B9DF-95D6BA14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Saneamiento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CD8453-C737-4FF1-979C-CDC7C8F90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MX" dirty="0"/>
              <a:t>Proceso de limpiar o modificar los datos de entrada para eliminar contenido peligroso antes de procesarlos.</a:t>
            </a:r>
          </a:p>
        </p:txBody>
      </p:sp>
    </p:spTree>
    <p:extLst>
      <p:ext uri="{BB962C8B-B14F-4D97-AF65-F5344CB8AC3E}">
        <p14:creationId xmlns:p14="http://schemas.microsoft.com/office/powerpoint/2010/main" val="1984732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4F0916-5CE1-4CA9-B4AF-813D4BC9C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Principio de menor privilegio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2789ED-ACC4-4A94-AEC0-6251402C6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MX" dirty="0"/>
              <a:t>Significa dar a cada usuario o programa solo los permisos necesarios para realizar su función, evitando accesos innecesarios.</a:t>
            </a:r>
          </a:p>
        </p:txBody>
      </p:sp>
    </p:spTree>
    <p:extLst>
      <p:ext uri="{BB962C8B-B14F-4D97-AF65-F5344CB8AC3E}">
        <p14:creationId xmlns:p14="http://schemas.microsoft.com/office/powerpoint/2010/main" val="1594909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9CC27A-0C44-4C75-8BFF-09A694AEB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Actualización del entorno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AC7DF8-0B4E-41A5-A232-9860F31A1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MX" dirty="0"/>
              <a:t>Mantener actualizado Python, librerías y sistemas operativos para corregir vulnerabilidades conocidas.</a:t>
            </a:r>
          </a:p>
        </p:txBody>
      </p:sp>
    </p:spTree>
    <p:extLst>
      <p:ext uri="{BB962C8B-B14F-4D97-AF65-F5344CB8AC3E}">
        <p14:creationId xmlns:p14="http://schemas.microsoft.com/office/powerpoint/2010/main" val="3911044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0D1C90-7BF9-475A-9839-06AAF5D67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9600"/>
            <a:ext cx="12191999" cy="2261937"/>
          </a:xfrm>
        </p:spPr>
        <p:txBody>
          <a:bodyPr>
            <a:normAutofit/>
          </a:bodyPr>
          <a:lstStyle/>
          <a:p>
            <a:pPr algn="ctr"/>
            <a:r>
              <a:rPr lang="es-MX" sz="5400" dirty="0"/>
              <a:t>Tipos de ataques comunes en Python</a:t>
            </a:r>
          </a:p>
        </p:txBody>
      </p:sp>
    </p:spTree>
    <p:extLst>
      <p:ext uri="{BB962C8B-B14F-4D97-AF65-F5344CB8AC3E}">
        <p14:creationId xmlns:p14="http://schemas.microsoft.com/office/powerpoint/2010/main" val="4274484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2DE94D-5D41-4851-939A-3F5441906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Inyección de código (</a:t>
            </a:r>
            <a:r>
              <a:rPr lang="es-MX" dirty="0" err="1"/>
              <a:t>eval</a:t>
            </a:r>
            <a:r>
              <a:rPr lang="es-MX" dirty="0"/>
              <a:t>() / </a:t>
            </a:r>
            <a:r>
              <a:rPr lang="es-MX" dirty="0" err="1"/>
              <a:t>exec</a:t>
            </a:r>
            <a:r>
              <a:rPr lang="es-MX" dirty="0"/>
              <a:t>())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288895-AE0E-48BB-995F-51EE8E05F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MX" dirty="0"/>
              <a:t>Ocurre cuando un atacante logra ejecutar código malicioso aprovechando funciones que interpretan texto como código.</a:t>
            </a:r>
          </a:p>
        </p:txBody>
      </p:sp>
    </p:spTree>
    <p:extLst>
      <p:ext uri="{BB962C8B-B14F-4D97-AF65-F5344CB8AC3E}">
        <p14:creationId xmlns:p14="http://schemas.microsoft.com/office/powerpoint/2010/main" val="2013150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3F7985-94B8-473A-9716-FD0A01FF0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Inyección SQL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89B217-48D5-447F-BC31-544381E52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MX" dirty="0"/>
              <a:t>Ataque donde se insertan comandos SQL maliciosos en formularios o entradas para manipular bases de datos.</a:t>
            </a:r>
          </a:p>
        </p:txBody>
      </p:sp>
    </p:spTree>
    <p:extLst>
      <p:ext uri="{BB962C8B-B14F-4D97-AF65-F5344CB8AC3E}">
        <p14:creationId xmlns:p14="http://schemas.microsoft.com/office/powerpoint/2010/main" val="3679036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FA0739-BA84-41AC-8A76-20C0AC7D9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Deserialización insegura (</a:t>
            </a:r>
            <a:r>
              <a:rPr lang="es-MX" dirty="0" err="1"/>
              <a:t>pickle</a:t>
            </a:r>
            <a:r>
              <a:rPr lang="es-MX"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F16C76-936A-418E-9144-83C4C6DB2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MX" dirty="0"/>
              <a:t>Sucede cuando se cargan archivos o datos serializados de fuentes no confiables, permitiendo ejecutar código peligroso.</a:t>
            </a:r>
          </a:p>
        </p:txBody>
      </p:sp>
    </p:spTree>
    <p:extLst>
      <p:ext uri="{BB962C8B-B14F-4D97-AF65-F5344CB8AC3E}">
        <p14:creationId xmlns:p14="http://schemas.microsoft.com/office/powerpoint/2010/main" val="872830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9D1041-9FEE-4B04-9A7F-45A7CDE39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Ataques de día cero en librerías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A0C440-DBFE-4C21-B3BC-EE2A97ADF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Son vulnerabilidades nuevas en librerías o programas que aún no tienen solución o parche disponible.</a:t>
            </a:r>
          </a:p>
        </p:txBody>
      </p:sp>
    </p:spTree>
    <p:extLst>
      <p:ext uri="{BB962C8B-B14F-4D97-AF65-F5344CB8AC3E}">
        <p14:creationId xmlns:p14="http://schemas.microsoft.com/office/powerpoint/2010/main" val="1314275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8AF99-F4CF-4C3D-B42B-FC5EDEC46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Secuestro de tipografía (</a:t>
            </a:r>
            <a:r>
              <a:rPr lang="es-MX" dirty="0" err="1"/>
              <a:t>Typosquatting</a:t>
            </a:r>
            <a:r>
              <a:rPr lang="es-MX"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07E156-33F2-45A0-8F19-2FBB620A0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MX" dirty="0"/>
              <a:t>Consiste en crear paquetes con nombres muy parecidos a librerías reales para engañar a desarrolladores y que descarguen software malicioso.</a:t>
            </a:r>
          </a:p>
        </p:txBody>
      </p:sp>
    </p:spTree>
    <p:extLst>
      <p:ext uri="{BB962C8B-B14F-4D97-AF65-F5344CB8AC3E}">
        <p14:creationId xmlns:p14="http://schemas.microsoft.com/office/powerpoint/2010/main" val="2474610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6AA086-C80E-4BB7-9F2E-A58A333D1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sz="3600" dirty="0"/>
              <a:t>Inyección de comandos (</a:t>
            </a:r>
            <a:r>
              <a:rPr lang="es-MX" sz="3600" dirty="0" err="1"/>
              <a:t>Command</a:t>
            </a:r>
            <a:r>
              <a:rPr lang="es-MX" sz="3600" dirty="0"/>
              <a:t> </a:t>
            </a:r>
            <a:r>
              <a:rPr lang="es-MX" sz="3600" dirty="0" err="1"/>
              <a:t>Injection</a:t>
            </a:r>
            <a:r>
              <a:rPr lang="es-MX" sz="3600"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ED4D85-8687-4DA8-B29B-7BB8A9B6C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MX" dirty="0"/>
              <a:t>Permite a un atacante ejecutar comandos del sistema operativo a través de entradas manipuladas.</a:t>
            </a:r>
          </a:p>
        </p:txBody>
      </p:sp>
    </p:spTree>
    <p:extLst>
      <p:ext uri="{BB962C8B-B14F-4D97-AF65-F5344CB8AC3E}">
        <p14:creationId xmlns:p14="http://schemas.microsoft.com/office/powerpoint/2010/main" val="632847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7E273F-B91E-46DB-B8D5-1CB9AD6D4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859338"/>
          </a:xfrm>
        </p:spPr>
        <p:txBody>
          <a:bodyPr>
            <a:noAutofit/>
          </a:bodyPr>
          <a:lstStyle/>
          <a:p>
            <a:pPr algn="ctr"/>
            <a:r>
              <a:rPr lang="es-MX" sz="9600" dirty="0"/>
              <a:t>Ingeniería social</a:t>
            </a:r>
          </a:p>
        </p:txBody>
      </p:sp>
    </p:spTree>
    <p:extLst>
      <p:ext uri="{BB962C8B-B14F-4D97-AF65-F5344CB8AC3E}">
        <p14:creationId xmlns:p14="http://schemas.microsoft.com/office/powerpoint/2010/main" val="1231286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1AAB4-4633-462D-A17E-9D16BD49E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576" y="290383"/>
            <a:ext cx="10571998" cy="1417638"/>
          </a:xfrm>
        </p:spPr>
        <p:txBody>
          <a:bodyPr/>
          <a:lstStyle/>
          <a:p>
            <a:pPr algn="ctr"/>
            <a:r>
              <a:rPr lang="es-MX" sz="9600" dirty="0"/>
              <a:t>¿Qué es?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123F83-3407-43C4-A337-33B0FC7EC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Es una técnica de manipulación psicológica usada para engañar a personas y obtener información confidencial o acceso a sistemas.</a:t>
            </a:r>
          </a:p>
        </p:txBody>
      </p:sp>
    </p:spTree>
    <p:extLst>
      <p:ext uri="{BB962C8B-B14F-4D97-AF65-F5344CB8AC3E}">
        <p14:creationId xmlns:p14="http://schemas.microsoft.com/office/powerpoint/2010/main" val="4126847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D431EA-725F-4BA2-8A71-A233E51A7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Objetivo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3E01C47-B8D2-49A3-A731-9EDA2BFFDA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88691" y="3301879"/>
            <a:ext cx="421461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Robar datos personales o financieros.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Obtener acceso no autorizado.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Realizar fraudes.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Manipular decisiones de las víctimas </a:t>
            </a:r>
          </a:p>
        </p:txBody>
      </p:sp>
    </p:spTree>
    <p:extLst>
      <p:ext uri="{BB962C8B-B14F-4D97-AF65-F5344CB8AC3E}">
        <p14:creationId xmlns:p14="http://schemas.microsoft.com/office/powerpoint/2010/main" val="82659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A00574-363C-4548-A8F4-F0EF5A582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MX" sz="7200" dirty="0"/>
              <a:t>Variantes de Phishing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6F5F77-A9F4-4D09-9BFF-89641BF63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91052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DF7ED0-E35A-4891-AE43-187298D9A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Phishing tradicional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9340D7-27CF-4067-9BF5-D8BC048DE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Correos o mensajes falsos que aparentan ser de empresas confiables para robar datos.</a:t>
            </a:r>
          </a:p>
        </p:txBody>
      </p:sp>
    </p:spTree>
    <p:extLst>
      <p:ext uri="{BB962C8B-B14F-4D97-AF65-F5344CB8AC3E}">
        <p14:creationId xmlns:p14="http://schemas.microsoft.com/office/powerpoint/2010/main" val="456643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334961-20D6-4203-9591-FAF58394A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sz="7200" dirty="0"/>
              <a:t>Spear Phishing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589D86-6772-42B5-89BC-0D57ACE57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Ataque personalizado dirigido a una persona o empresa específica.</a:t>
            </a:r>
          </a:p>
        </p:txBody>
      </p:sp>
    </p:spTree>
    <p:extLst>
      <p:ext uri="{BB962C8B-B14F-4D97-AF65-F5344CB8AC3E}">
        <p14:creationId xmlns:p14="http://schemas.microsoft.com/office/powerpoint/2010/main" val="1637422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C75606-7101-4D26-B769-F46D431A6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 err="1"/>
              <a:t>Whaling</a:t>
            </a:r>
            <a:r>
              <a:rPr lang="es-MX" dirty="0"/>
              <a:t> (Pesca de ballenas)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D3460B-3864-4161-A62C-BDCF43207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Tipo de phishing dirigido a directivos o personas importantes dentro de una organización.</a:t>
            </a:r>
          </a:p>
        </p:txBody>
      </p:sp>
    </p:spTree>
    <p:extLst>
      <p:ext uri="{BB962C8B-B14F-4D97-AF65-F5344CB8AC3E}">
        <p14:creationId xmlns:p14="http://schemas.microsoft.com/office/powerpoint/2010/main" val="22891538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4412D0-9A9E-426E-9DDE-65C53CBA3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0"/>
            <a:ext cx="10571998" cy="1417638"/>
          </a:xfrm>
        </p:spPr>
        <p:txBody>
          <a:bodyPr/>
          <a:lstStyle/>
          <a:p>
            <a:pPr algn="ctr"/>
            <a:r>
              <a:rPr lang="es-MX" sz="8800" dirty="0" err="1"/>
              <a:t>Smishing</a:t>
            </a:r>
            <a:endParaRPr lang="es-MX" sz="8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B81455-4720-472E-ABDC-94C5ED079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MX" dirty="0"/>
              <a:t>Phishing realizado mediante mensajes de texto (SMS).</a:t>
            </a:r>
          </a:p>
        </p:txBody>
      </p:sp>
    </p:spTree>
    <p:extLst>
      <p:ext uri="{BB962C8B-B14F-4D97-AF65-F5344CB8AC3E}">
        <p14:creationId xmlns:p14="http://schemas.microsoft.com/office/powerpoint/2010/main" val="35808225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9CA54-9DD6-4788-B29A-EEF3F60F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sz="8000" dirty="0" err="1"/>
              <a:t>Vishing</a:t>
            </a:r>
            <a:endParaRPr lang="es-MX" sz="8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18F0E8-AF37-436E-9920-1D0DBF679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MX" dirty="0"/>
              <a:t>Phishing realizado mediante llamadas telefónicas.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30723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7A42E1-B56B-433E-AC03-01AABA362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2518611"/>
          </a:xfrm>
        </p:spPr>
        <p:txBody>
          <a:bodyPr>
            <a:normAutofit/>
          </a:bodyPr>
          <a:lstStyle/>
          <a:p>
            <a:pPr algn="ctr"/>
            <a:r>
              <a:rPr lang="es-MX" sz="4800" dirty="0"/>
              <a:t>Engaños y Manipulación Directa</a:t>
            </a:r>
          </a:p>
        </p:txBody>
      </p:sp>
    </p:spTree>
    <p:extLst>
      <p:ext uri="{BB962C8B-B14F-4D97-AF65-F5344CB8AC3E}">
        <p14:creationId xmlns:p14="http://schemas.microsoft.com/office/powerpoint/2010/main" val="22645262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F74322-CB1B-435F-BBDA-9586A0574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 err="1"/>
              <a:t>Baiting</a:t>
            </a:r>
            <a:r>
              <a:rPr lang="es-MX" dirty="0"/>
              <a:t> (Señuelo)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3ABCC5-D93E-4ADE-91DB-21194E810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MX" dirty="0"/>
              <a:t>Se ofrece algo atractivo, como un premio o archivo gratuito, para engañar a la víctima.</a:t>
            </a:r>
          </a:p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614431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403981-E6B9-4701-A5DA-C24EB9A73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 err="1"/>
              <a:t>Pretexting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AC52C1-573C-4764-B2C0-EC5892147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MX" dirty="0"/>
              <a:t>El atacante inventa una historia o identidad falsa para ganar confianza.</a:t>
            </a:r>
          </a:p>
        </p:txBody>
      </p:sp>
    </p:spTree>
    <p:extLst>
      <p:ext uri="{BB962C8B-B14F-4D97-AF65-F5344CB8AC3E}">
        <p14:creationId xmlns:p14="http://schemas.microsoft.com/office/powerpoint/2010/main" val="40852223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A29805-310C-4E47-8CAC-50A70C561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Quid Pro Quo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4C9387-6FBE-4A4F-9315-0D013F1E1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MX" dirty="0"/>
              <a:t>Se promete un beneficio a cambio de información o acceso.</a:t>
            </a:r>
          </a:p>
        </p:txBody>
      </p:sp>
    </p:spTree>
    <p:extLst>
      <p:ext uri="{BB962C8B-B14F-4D97-AF65-F5344CB8AC3E}">
        <p14:creationId xmlns:p14="http://schemas.microsoft.com/office/powerpoint/2010/main" val="12230182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15F30-E3DF-4FB2-B7BF-8A9798D69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 err="1"/>
              <a:t>Tailgating</a:t>
            </a:r>
            <a:r>
              <a:rPr lang="es-MX" dirty="0"/>
              <a:t> (Colarse)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EC038F-5A26-41CA-B1E4-70227F1B5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MX" dirty="0"/>
              <a:t>Una persona no autorizada entra a un lugar restringido siguiendo a alguien autorizado.</a:t>
            </a:r>
          </a:p>
        </p:txBody>
      </p:sp>
    </p:spTree>
    <p:extLst>
      <p:ext uri="{BB962C8B-B14F-4D97-AF65-F5344CB8AC3E}">
        <p14:creationId xmlns:p14="http://schemas.microsoft.com/office/powerpoint/2010/main" val="21240673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8B7406-D694-4012-8EFB-2C57E08DC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410159"/>
          </a:xfrm>
        </p:spPr>
        <p:txBody>
          <a:bodyPr>
            <a:normAutofit/>
          </a:bodyPr>
          <a:lstStyle/>
          <a:p>
            <a:pPr algn="ctr"/>
            <a:r>
              <a:rPr lang="es-MX" sz="6600" dirty="0"/>
              <a:t>Estafas de Identidad y Redes</a:t>
            </a:r>
          </a:p>
        </p:txBody>
      </p:sp>
    </p:spTree>
    <p:extLst>
      <p:ext uri="{BB962C8B-B14F-4D97-AF65-F5344CB8AC3E}">
        <p14:creationId xmlns:p14="http://schemas.microsoft.com/office/powerpoint/2010/main" val="42816787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84C57C-A603-45AA-930A-0F40B60CF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Business Email </a:t>
            </a:r>
            <a:r>
              <a:rPr lang="es-MX" dirty="0" err="1"/>
              <a:t>Compromise</a:t>
            </a:r>
            <a:r>
              <a:rPr lang="es-MX" dirty="0"/>
              <a:t> (BEC)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FED8EA-D848-4C55-A335-43EABCBE5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MX" dirty="0"/>
              <a:t>Fraude en el que se suplanta a una empresa o jefe para pedir transferencias o datos.</a:t>
            </a:r>
          </a:p>
        </p:txBody>
      </p:sp>
    </p:spTree>
    <p:extLst>
      <p:ext uri="{BB962C8B-B14F-4D97-AF65-F5344CB8AC3E}">
        <p14:creationId xmlns:p14="http://schemas.microsoft.com/office/powerpoint/2010/main" val="16175845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44A671-AB40-4A55-A307-B7BA5B0D2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 err="1"/>
              <a:t>Catfishing</a:t>
            </a:r>
            <a:r>
              <a:rPr lang="es-MX" dirty="0"/>
              <a:t> / Romances falsos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89F003-EC0B-453E-B6C7-02342B8C2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MX" dirty="0"/>
              <a:t>Creación de identidades falsas en internet para engañar emocionalmente y estafar.</a:t>
            </a:r>
          </a:p>
        </p:txBody>
      </p:sp>
    </p:spTree>
    <p:extLst>
      <p:ext uri="{BB962C8B-B14F-4D97-AF65-F5344CB8AC3E}">
        <p14:creationId xmlns:p14="http://schemas.microsoft.com/office/powerpoint/2010/main" val="10154733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B3A0B5-DD15-48CF-846E-9093CF642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 err="1"/>
              <a:t>Scareware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6225A7-5865-4730-8355-1C5331EC2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MX" dirty="0"/>
              <a:t>Mensajes falsos que generan miedo, como alertas de virus, para que la víctima descargue software malicioso.</a:t>
            </a:r>
          </a:p>
        </p:txBody>
      </p:sp>
    </p:spTree>
    <p:extLst>
      <p:ext uri="{BB962C8B-B14F-4D97-AF65-F5344CB8AC3E}">
        <p14:creationId xmlns:p14="http://schemas.microsoft.com/office/powerpoint/2010/main" val="12057723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31B9D-6599-4530-BC21-56875B1F4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062B7A-0FBB-433E-B371-602730BA7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245934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/Relationships>
</file>

<file path=ppt/theme/theme1.xml><?xml version="1.0" encoding="utf-8"?>
<a:theme xmlns:a="http://schemas.openxmlformats.org/drawingml/2006/main" name="Ci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6476F"/>
      </a:dk2>
      <a:lt2>
        <a:srgbClr val="EBEBEB"/>
      </a:lt2>
      <a:accent1>
        <a:srgbClr val="E5B458"/>
      </a:accent1>
      <a:accent2>
        <a:srgbClr val="F77754"/>
      </a:accent2>
      <a:accent3>
        <a:srgbClr val="D8507E"/>
      </a:accent3>
      <a:accent4>
        <a:srgbClr val="BC70EE"/>
      </a:accent4>
      <a:accent5>
        <a:srgbClr val="3CA2E2"/>
      </a:accent5>
      <a:accent6>
        <a:srgbClr val="91BF77"/>
      </a:accent6>
      <a:hlink>
        <a:srgbClr val="71DDAB"/>
      </a:hlink>
      <a:folHlink>
        <a:srgbClr val="A6E4C7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B36E0D05-787B-4C61-8268-2D6C1FBEDA32}"/>
    </a:ext>
  </a:extLst>
</a:theme>
</file>

<file path=ppt/theme/theme3.xml><?xml version="1.0" encoding="utf-8"?>
<a:theme xmlns:a="http://schemas.openxmlformats.org/drawingml/2006/main" name="1_Celestial">
  <a:themeElements>
    <a:clrScheme name="Celestial">
      <a:dk1>
        <a:sysClr val="windowText" lastClr="000000"/>
      </a:dk1>
      <a:lt1>
        <a:sysClr val="window" lastClr="FFFFFF"/>
      </a:lt1>
      <a:dk2>
        <a:srgbClr val="104C7E"/>
      </a:dk2>
      <a:lt2>
        <a:srgbClr val="EBEBEB"/>
      </a:lt2>
      <a:accent1>
        <a:srgbClr val="94CE67"/>
      </a:accent1>
      <a:accent2>
        <a:srgbClr val="49D1CD"/>
      </a:accent2>
      <a:accent3>
        <a:srgbClr val="61A5D6"/>
      </a:accent3>
      <a:accent4>
        <a:srgbClr val="9D8CD3"/>
      </a:accent4>
      <a:accent5>
        <a:srgbClr val="E45C8A"/>
      </a:accent5>
      <a:accent6>
        <a:srgbClr val="F98C61"/>
      </a:accent6>
      <a:hlink>
        <a:srgbClr val="AAF172"/>
      </a:hlink>
      <a:folHlink>
        <a:srgbClr val="E7F19A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E44E6A2F-09CD-4BE0-B42D-107FF03CEED6}"/>
    </a:ext>
  </a:extLst>
</a:theme>
</file>

<file path=ppt/theme/theme4.xml><?xml version="1.0" encoding="utf-8"?>
<a:theme xmlns:a="http://schemas.openxmlformats.org/drawingml/2006/main" name="2_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5.xml><?xml version="1.0" encoding="utf-8"?>
<a:theme xmlns:a="http://schemas.openxmlformats.org/drawingml/2006/main" name="3_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ppt/theme/theme6.xml><?xml version="1.0" encoding="utf-8"?>
<a:theme xmlns:a="http://schemas.openxmlformats.org/drawingml/2006/main" name="Profundidad">
  <a:themeElements>
    <a:clrScheme name="Profundidad">
      <a:dk1>
        <a:sysClr val="windowText" lastClr="000000"/>
      </a:dk1>
      <a:lt1>
        <a:sysClr val="window" lastClr="FFFFFF"/>
      </a:lt1>
      <a:dk2>
        <a:srgbClr val="454551"/>
      </a:dk2>
      <a:lt2>
        <a:srgbClr val="F2ACD2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Profundidad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fundidad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3016C5A4-E631-4977-A608-ACFB4755262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547</Words>
  <Application>Microsoft Office PowerPoint</Application>
  <PresentationFormat>Panorámica</PresentationFormat>
  <Paragraphs>62</Paragraphs>
  <Slides>33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6</vt:i4>
      </vt:variant>
      <vt:variant>
        <vt:lpstr>Títulos de diapositiva</vt:lpstr>
      </vt:variant>
      <vt:variant>
        <vt:i4>33</vt:i4>
      </vt:variant>
    </vt:vector>
  </HeadingPairs>
  <TitlesOfParts>
    <vt:vector size="45" baseType="lpstr">
      <vt:lpstr>Arial</vt:lpstr>
      <vt:lpstr>Calibri</vt:lpstr>
      <vt:lpstr>Calibri Light</vt:lpstr>
      <vt:lpstr>Century Gothic</vt:lpstr>
      <vt:lpstr>Corbel</vt:lpstr>
      <vt:lpstr>Wingdings 2</vt:lpstr>
      <vt:lpstr>Citable</vt:lpstr>
      <vt:lpstr>Celestial</vt:lpstr>
      <vt:lpstr>1_Celestial</vt:lpstr>
      <vt:lpstr>2_Celestial</vt:lpstr>
      <vt:lpstr>3_Celestial</vt:lpstr>
      <vt:lpstr>Profundidad</vt:lpstr>
      <vt:lpstr>Ciberseguridad en Python</vt:lpstr>
      <vt:lpstr>Gestión de dependencias</vt:lpstr>
      <vt:lpstr>Manejo de secretos</vt:lpstr>
      <vt:lpstr>Validación de entradas</vt:lpstr>
      <vt:lpstr>Saneamiento de datos</vt:lpstr>
      <vt:lpstr>Principio de menor privilegio</vt:lpstr>
      <vt:lpstr>Actualización del entorno</vt:lpstr>
      <vt:lpstr>Tipos de ataques comunes en Python</vt:lpstr>
      <vt:lpstr>Inyección de código (eval() / exec())</vt:lpstr>
      <vt:lpstr>Inyección SQL</vt:lpstr>
      <vt:lpstr>Deserialización insegura (pickle)</vt:lpstr>
      <vt:lpstr>Ataques de día cero en librerías</vt:lpstr>
      <vt:lpstr>Secuestro de tipografía (Typosquatting)</vt:lpstr>
      <vt:lpstr>Inyección de comandos (Command Injection)</vt:lpstr>
      <vt:lpstr>Ingeniería social</vt:lpstr>
      <vt:lpstr>¿Qué es?</vt:lpstr>
      <vt:lpstr>Objetivo</vt:lpstr>
      <vt:lpstr>Variantes de Phishing</vt:lpstr>
      <vt:lpstr>Phishing tradicional</vt:lpstr>
      <vt:lpstr>Spear Phishing</vt:lpstr>
      <vt:lpstr>Whaling (Pesca de ballenas)</vt:lpstr>
      <vt:lpstr>Smishing</vt:lpstr>
      <vt:lpstr>Vishing</vt:lpstr>
      <vt:lpstr>Engaños y Manipulación Directa</vt:lpstr>
      <vt:lpstr>Baiting (Señuelo)</vt:lpstr>
      <vt:lpstr>Pretexting</vt:lpstr>
      <vt:lpstr>Quid Pro Quo</vt:lpstr>
      <vt:lpstr>Tailgating (Colarse)</vt:lpstr>
      <vt:lpstr>Estafas de Identidad y Redes</vt:lpstr>
      <vt:lpstr>Business Email Compromise (BEC)</vt:lpstr>
      <vt:lpstr>Catfishing / Romances falsos</vt:lpstr>
      <vt:lpstr>Scareware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Ciberseguridad en Python</dc:title>
  <dc:creator>Alumno</dc:creator>
  <cp:lastModifiedBy>Alumno</cp:lastModifiedBy>
  <cp:revision>7</cp:revision>
  <dcterms:created xsi:type="dcterms:W3CDTF">2026-05-22T01:30:31Z</dcterms:created>
  <dcterms:modified xsi:type="dcterms:W3CDTF">2026-05-27T00:13:39Z</dcterms:modified>
</cp:coreProperties>
</file>